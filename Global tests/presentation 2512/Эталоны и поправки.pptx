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477" autoAdjust="0"/>
  </p:normalViewPr>
  <p:slideViewPr>
    <p:cSldViewPr snapToGrid="0">
      <p:cViewPr varScale="1">
        <p:scale>
          <a:sx n="81" d="100"/>
          <a:sy n="81" d="100"/>
        </p:scale>
        <p:origin x="108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5A41E6-F858-40D0-A66D-D44CA0743198}" type="datetimeFigureOut">
              <a:rPr lang="ru-RU" smtClean="0"/>
              <a:t>26.12.2025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E72B20-49CB-4C0D-B12D-047A3E0104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633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E72B20-49CB-4C0D-B12D-047A3E01042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0901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Слева - глобальный эталон по возрасту</a:t>
            </a:r>
            <a:br>
              <a:rPr lang="ru-RU" dirty="0"/>
            </a:br>
            <a:r>
              <a:rPr lang="ru-RU" dirty="0"/>
              <a:t>Если идея “эталон как мера сложности трассы” в этом подходе работает, то различие между трассами должно выглядеть как относительно простой сдвиг. </a:t>
            </a:r>
          </a:p>
          <a:p>
            <a:r>
              <a:rPr lang="ru-RU" dirty="0"/>
              <a:t>На практике мы видим, что различается не только уровень, но и форма распределения, и ширина, и хвост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E72B20-49CB-4C0D-B12D-047A3E01042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1259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C4B9EA-B0BF-02EB-118D-94AEAF2DE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95DB638-D5A7-1012-F1F5-3995BD2AF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016648-01D0-B93D-556A-1CC6A6828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D89C-E123-4A70-9F09-482E5E1B680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8BAECA-57A0-A331-6E1A-9E40C777D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7C03C0-91F4-9F1D-FD3D-B658B8DB6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3EC9-48BE-43BE-8669-9F6B216E9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5231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B3035-8D34-73BD-D25F-C6E66904B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DF8CDF-003A-DFAA-148B-2D76827B3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FE89AF-9514-8993-D6E8-DEBF3218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D89C-E123-4A70-9F09-482E5E1B680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EFE0578-89A3-CB3F-7CF7-962215F14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C860FA-2360-DD61-EC6D-7C27B7457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3EC9-48BE-43BE-8669-9F6B216E9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254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2A8858-81EE-5FB8-9A7F-4BB9080DB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A077CE-60F8-8CFB-3426-9AA4256C8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5AF500-CE00-923B-3E8E-AADF59471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D89C-E123-4A70-9F09-482E5E1B680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599A84-A47C-B7D4-A783-25C78C50D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727DFE-7B9C-80EA-0351-38C02AB1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3EC9-48BE-43BE-8669-9F6B216E9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57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863F9-DE18-44CF-CDA0-64CBE37E8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266B7B-6099-DC8D-AA9E-E9E71AECB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AF5091-33B9-2BA1-CC51-F5D3FCB75F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7715A4-8C57-ADC7-687D-7D0322538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D89C-E123-4A70-9F09-482E5E1B680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601DCF-C5B4-2D28-2E42-11AABB462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D0EEE1-6D7F-CB4A-92AF-B75566715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3EC9-48BE-43BE-8669-9F6B216E9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933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FF80F-5875-9360-63C9-1B40A982B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84FB02-8CBA-41BB-2359-85A4844D7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BA5DF3F-B3B7-DC9C-0B51-09E403C17B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F9ED5A5-F562-55A7-C78B-90362483F1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95B3D68-8729-0DF1-9D54-00162DB86F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F5ABE19-6FF4-03E9-39C3-409C74ED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D89C-E123-4A70-9F09-482E5E1B680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1168F8-B673-D44A-4AC8-268D73460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73DFA2F-BABA-5F82-FB95-74E893B75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3EC9-48BE-43BE-8669-9F6B216E9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565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D855E4-0BE1-339F-612A-1478128F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0E7194C-8CF4-CFA7-4C94-786C4B3F6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D89C-E123-4A70-9F09-482E5E1B680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C7854F-2C5C-4664-8E60-C314C643C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EE1FD0F-B199-B0ED-F2F2-A9F7825EB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3EC9-48BE-43BE-8669-9F6B216E9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717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ED7B475-2685-A694-1A45-F5C52784D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D89C-E123-4A70-9F09-482E5E1B680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5D0E0DE-C3C8-6680-B446-656BE360C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73D1CD-F35F-79B4-602A-68D0FF306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3EC9-48BE-43BE-8669-9F6B216E9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5140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CE4D8B-D0F7-B872-E8D7-FB9127DBC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01F56F-7E3C-D726-487B-25A85E64F0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73FF93-C3C5-09C8-0B52-EE66D0185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4577B41-D5B3-881B-75E6-0ECE871A8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D89C-E123-4A70-9F09-482E5E1B680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E2565F8-6E31-3D7D-5336-A59C65E74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E91A135-E89E-0373-11D9-9A5F46BD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3EC9-48BE-43BE-8669-9F6B216E9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558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F99552-AB31-1B86-09C4-27B57DA70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2B15A7A-EFC0-82D9-C0CE-C1BC181BC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A1CE74-5881-BD7D-28C1-F809A7053B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A343BB-551E-EAD3-21EA-204BC3B55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D89C-E123-4A70-9F09-482E5E1B680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EBAFDFA-97F8-A959-84DA-BA36F6262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C90ABF-35E4-3F05-704B-A5860C4F1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3EC9-48BE-43BE-8669-9F6B216E9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97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ED2175-038F-7521-0DA3-5D12E87F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CE176B8-9DC9-EA86-8FBE-CAF7565CA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288821-24EC-9AE0-FB96-84BDC4518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D89C-E123-4A70-9F09-482E5E1B680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965D5C9-23BC-7E06-7E9E-17FF65074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F02DA7-BEB5-322C-CB47-D8AF5DA0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3EC9-48BE-43BE-8669-9F6B216E9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8559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83B9AB3-54D6-1F93-8B2F-671BE0510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B888EBD-0003-AD82-66F2-C798D65BEB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1E2568-73DA-8E77-005A-BB99C03CE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ED89C-E123-4A70-9F09-482E5E1B680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F961A2-658A-51A3-9948-ACD97E9F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BE20ED-999E-E699-9D67-E00C3DCB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33EC9-48BE-43BE-8669-9F6B216E9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091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2CF7E6-34A4-8F9E-2356-F0B49F91F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59F3D7-E1AB-7A16-BC15-C92F6B886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1E4B60-26CB-C1A6-1A19-C99B9FDE8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ED89C-E123-4A70-9F09-482E5E1B6801}" type="datetimeFigureOut">
              <a:rPr lang="ru-RU" smtClean="0"/>
              <a:t>25.12.2025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6A606D-148A-8B74-42C0-BCC62258E8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B5801C-6AEB-A997-48B2-CCF8327C8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33EC9-48BE-43BE-8669-9F6B216E97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177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8439F-9ACC-DB45-DEAF-31662EF3D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6400" y="4019909"/>
            <a:ext cx="9144000" cy="923026"/>
          </a:xfrm>
        </p:spPr>
        <p:txBody>
          <a:bodyPr/>
          <a:lstStyle/>
          <a:p>
            <a:r>
              <a:rPr lang="ru-RU" dirty="0"/>
              <a:t>Эталоны и поправки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BD3655A-E827-0B78-689D-9ACE88BAEB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2E58D2-C49B-4F55-9F20-B30F9842B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78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95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AC11F-1B4C-1A43-FA39-8353D472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1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Задача и декомпозиция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9FA4CA-0ABA-764B-B2F4-A0E4E50D5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845" y="825651"/>
            <a:ext cx="3287119" cy="52066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b="1" dirty="0"/>
              <a:t>ЗАДАЧА </a:t>
            </a:r>
          </a:p>
          <a:p>
            <a:pPr marL="0" indent="0">
              <a:buNone/>
            </a:pPr>
            <a:r>
              <a:rPr lang="ru-RU" sz="1400" dirty="0"/>
              <a:t>Выделить вклад трассы во время финиша, отделив его от возраста участников и межгодовых факторов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r>
              <a:rPr lang="ru-RU" sz="1400" b="1" dirty="0"/>
              <a:t>КАК МЫ НА ЭТО СМОТРИМ </a:t>
            </a:r>
          </a:p>
          <a:p>
            <a:pPr marL="0" indent="0">
              <a:buNone/>
            </a:pPr>
            <a:r>
              <a:rPr lang="ru-RU" sz="1400" dirty="0"/>
              <a:t>Время финиша — это есть результат нескольких вкладов: </a:t>
            </a:r>
          </a:p>
          <a:p>
            <a:pPr marL="0" indent="0">
              <a:buNone/>
            </a:pPr>
            <a:r>
              <a:rPr lang="ru-RU" sz="1400" dirty="0"/>
              <a:t>• Собственно трасса (потенциал трассы) </a:t>
            </a:r>
          </a:p>
          <a:p>
            <a:pPr marL="0" indent="0">
              <a:buNone/>
            </a:pPr>
            <a:r>
              <a:rPr lang="ru-RU" sz="1400" dirty="0"/>
              <a:t>• Возраст участника </a:t>
            </a:r>
          </a:p>
          <a:p>
            <a:pPr marL="0" indent="0">
              <a:buNone/>
            </a:pPr>
            <a:r>
              <a:rPr lang="ru-RU" sz="1400" dirty="0"/>
              <a:t>• Год и условия старта </a:t>
            </a:r>
          </a:p>
          <a:p>
            <a:pPr marL="0" indent="0">
              <a:buNone/>
            </a:pPr>
            <a:r>
              <a:rPr lang="ru-RU" sz="1400" dirty="0"/>
              <a:t>• Индивидуальные различия </a:t>
            </a:r>
          </a:p>
          <a:p>
            <a:pPr marL="0" indent="0">
              <a:buNone/>
            </a:pPr>
            <a:r>
              <a:rPr lang="ru-RU" sz="1400" dirty="0"/>
              <a:t>• Случайный шум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DF1E847-53DC-366F-EF70-0C6FDACBEC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592" y="1174783"/>
            <a:ext cx="8436183" cy="422885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F9FC13D-6076-7F3F-C3BF-069119D6499C}"/>
              </a:ext>
            </a:extLst>
          </p:cNvPr>
          <p:cNvSpPr txBox="1"/>
          <p:nvPr/>
        </p:nvSpPr>
        <p:spPr>
          <a:xfrm>
            <a:off x="5259238" y="1454365"/>
            <a:ext cx="60945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/>
              <a:t>Показаны условные вклады в минутах для наглядности.</a:t>
            </a:r>
            <a:br>
              <a:rPr lang="ru-RU" sz="1200" dirty="0"/>
            </a:br>
            <a:r>
              <a:rPr lang="ru-RU" sz="1200" dirty="0"/>
              <a:t>В модели факторы действуют </a:t>
            </a:r>
            <a:r>
              <a:rPr lang="ru-RU" sz="1200" dirty="0" err="1"/>
              <a:t>мультипликативно</a:t>
            </a:r>
            <a:r>
              <a:rPr lang="ru-RU" sz="1200" dirty="0"/>
              <a:t> на лог-шкале.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713F2B-37F4-F170-DFA9-33430D2421E9}"/>
              </a:ext>
            </a:extLst>
          </p:cNvPr>
          <p:cNvSpPr txBox="1"/>
          <p:nvPr/>
        </p:nvSpPr>
        <p:spPr>
          <a:xfrm>
            <a:off x="502845" y="5303851"/>
            <a:ext cx="61394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/>
              <a:t>Заметим!</a:t>
            </a:r>
          </a:p>
          <a:p>
            <a:endParaRPr lang="ru-RU" sz="1400" b="1" dirty="0"/>
          </a:p>
          <a:p>
            <a:r>
              <a:rPr lang="ru-RU" sz="1400" dirty="0"/>
              <a:t>Если эти вклады не разделять явно, </a:t>
            </a:r>
          </a:p>
          <a:p>
            <a:r>
              <a:rPr lang="ru-RU" sz="1400" dirty="0"/>
              <a:t>оценка трассы неизбежно смешивает возраст, год и состав</a:t>
            </a:r>
          </a:p>
        </p:txBody>
      </p:sp>
    </p:spTree>
    <p:extLst>
      <p:ext uri="{BB962C8B-B14F-4D97-AF65-F5344CB8AC3E}">
        <p14:creationId xmlns:p14="http://schemas.microsoft.com/office/powerpoint/2010/main" val="2557759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0AC11F-1B4C-1A43-FA39-8353D4723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815" y="123586"/>
            <a:ext cx="10515600" cy="445758"/>
          </a:xfrm>
        </p:spPr>
        <p:txBody>
          <a:bodyPr>
            <a:noAutofit/>
          </a:bodyPr>
          <a:lstStyle/>
          <a:p>
            <a:pPr algn="ctr"/>
            <a:r>
              <a:rPr lang="ru-RU" sz="2800" b="1" dirty="0"/>
              <a:t>Модель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56E81D4F-23ED-04F0-1CD6-213A09331E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0551" y="1158441"/>
                <a:ext cx="10515600" cy="2576797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900" b="0" i="1" smtClean="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9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𝑒𝑙𝑖𝑡𝑒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</m:e>
                      </m:d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d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900" b="0" i="1" smtClean="0">
                              <a:latin typeface="Cambria Math" panose="02040503050406030204" pitchFamily="18" charset="0"/>
                            </a:rPr>
                            <m:t>𝑟𝑢𝑛𝑛𝑒𝑟</m:t>
                          </m:r>
                        </m:sub>
                      </m:sSub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ru-RU" sz="1900" b="0" dirty="0"/>
              </a:p>
              <a:p>
                <a:pPr marL="0" indent="0">
                  <a:buNone/>
                </a:pPr>
                <a:endParaRPr lang="ru-RU" sz="1400" dirty="0"/>
              </a:p>
              <a:p>
                <a:pPr marL="0" indent="0">
                  <a:buNone/>
                </a:pPr>
                <a:r>
                  <a:rPr lang="ru-RU" sz="1400" b="1" dirty="0"/>
                  <a:t>Обозначения</a:t>
                </a:r>
                <a:endParaRPr lang="en-US" sz="1400" b="1" dirty="0"/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400" dirty="0"/>
                  <a:t> </a:t>
                </a:r>
                <a:r>
                  <a:rPr lang="ru-RU" sz="1400" dirty="0"/>
                  <a:t>трасса</a:t>
                </a: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ru-RU" sz="1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1400" dirty="0"/>
                  <a:t> номер года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40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𝑙𝑖𝑡𝑒</m:t>
                        </m:r>
                      </m:sub>
                    </m:sSub>
                    <m:d>
                      <m:dPr>
                        <m:ctrlPr>
                          <a:rPr lang="ru-RU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4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400" dirty="0"/>
                  <a:t> </a:t>
                </a:r>
                <a:r>
                  <a:rPr lang="ru-RU" sz="1400" dirty="0"/>
                  <a:t>потенциал трассы (элитный эталон)</a:t>
                </a:r>
                <a:endParaRPr lang="en-US" sz="1400" dirty="0"/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400" dirty="0"/>
                  <a:t> </a:t>
                </a:r>
                <a:r>
                  <a:rPr lang="ru-RU" sz="1400" dirty="0"/>
                  <a:t>поправка на погоду, организацию, состав участников</a:t>
                </a:r>
                <a:endParaRPr lang="en-US" sz="1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𝑟𝑢𝑛𝑛𝑒𝑟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1400" dirty="0"/>
                  <a:t> </a:t>
                </a:r>
                <a:r>
                  <a:rPr lang="ru-RU" sz="1400" dirty="0"/>
                  <a:t>поправка на индивидуальные способности</a:t>
                </a: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𝜀</m:t>
                    </m:r>
                    <m:r>
                      <a:rPr lang="ru-RU" sz="1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1400" dirty="0"/>
                  <a:t> шум, погрешности всех оценок</a:t>
                </a:r>
              </a:p>
              <a:p>
                <a:pPr marL="0" indent="0">
                  <a:buNone/>
                </a:pPr>
                <a:endParaRPr lang="ru-RU" sz="1400" dirty="0"/>
              </a:p>
              <a:p>
                <a:pPr marL="0" indent="0">
                  <a:buNone/>
                </a:pPr>
                <a:endParaRPr lang="en-US" sz="1400" dirty="0"/>
              </a:p>
              <a:p>
                <a:endParaRPr lang="ru-RU" sz="1400" dirty="0"/>
              </a:p>
            </p:txBody>
          </p:sp>
        </mc:Choice>
        <mc:Fallback xmlns="">
          <p:sp>
            <p:nvSpPr>
              <p:cNvPr id="5" name="Объект 4">
                <a:extLst>
                  <a:ext uri="{FF2B5EF4-FFF2-40B4-BE49-F238E27FC236}">
                    <a16:creationId xmlns:a16="http://schemas.microsoft.com/office/drawing/2014/main" id="{56E81D4F-23ED-04F0-1CD6-213A09331E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0551" y="1158441"/>
                <a:ext cx="10515600" cy="2576797"/>
              </a:xfrm>
              <a:blipFill>
                <a:blip r:embed="rId2"/>
                <a:stretch>
                  <a:fillRect l="-11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BF838F-24DD-7F04-6B3F-6E6C17199543}"/>
                  </a:ext>
                </a:extLst>
              </p:cNvPr>
              <p:cNvSpPr txBox="1"/>
              <p:nvPr/>
            </p:nvSpPr>
            <p:spPr>
              <a:xfrm>
                <a:off x="6035615" y="1798803"/>
                <a:ext cx="6094562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400" b="1" dirty="0"/>
                  <a:t>Интерпретация</a:t>
                </a:r>
              </a:p>
              <a:p>
                <a:endParaRPr lang="ru-RU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400" dirty="0"/>
                  <a:t>Вклады складываются на логарифмической шкале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400" dirty="0"/>
                  <a:t>Возрастной эффект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𝑎𝑔𝑒</m:t>
                        </m:r>
                      </m:e>
                    </m:d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400" dirty="0"/>
                  <a:t> считается общим и не зависит от трассы.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400" dirty="0"/>
                  <a:t>Индивидуальный уровень бегуна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𝑟𝑢𝑛𝑛𝑒𝑟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400" dirty="0"/>
                  <a:t> может меняться со временем и не является постоянной величиной.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400" dirty="0"/>
                  <a:t>Годовая компонента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ru-RU" sz="1400" dirty="0"/>
                  <a:t>  отражает условия старта и состав участников конкретного года, а не свойства трассы.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BF838F-24DD-7F04-6B3F-6E6C17199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615" y="1798803"/>
                <a:ext cx="6094562" cy="1815882"/>
              </a:xfrm>
              <a:prstGeom prst="rect">
                <a:avLst/>
              </a:prstGeom>
              <a:blipFill>
                <a:blip r:embed="rId3"/>
                <a:stretch>
                  <a:fillRect l="-300" t="-671" b="-26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553009-48CB-C5ED-F8CE-0AAC22AAEA91}"/>
                  </a:ext>
                </a:extLst>
              </p:cNvPr>
              <p:cNvSpPr txBox="1"/>
              <p:nvPr/>
            </p:nvSpPr>
            <p:spPr>
              <a:xfrm>
                <a:off x="310551" y="4011282"/>
                <a:ext cx="1075714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400" dirty="0"/>
                  <a:t>Эталон трассы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𝒆𝒍𝒊𝒕𝒆</m:t>
                        </m:r>
                      </m:sub>
                    </m:sSub>
                    <m:d>
                      <m:dPr>
                        <m:ctrlPr>
                          <a:rPr lang="en-US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</m:d>
                  </m:oMath>
                </a14:m>
                <a:r>
                  <a:rPr lang="ru-RU" sz="1400" dirty="0"/>
                  <a:t> — это нормировочный коэффициент.</a:t>
                </a:r>
              </a:p>
              <a:p>
                <a:endParaRPr lang="ru-RU" sz="1400" dirty="0"/>
              </a:p>
              <a:p>
                <a:r>
                  <a:rPr lang="ru-RU" sz="1400" dirty="0"/>
                  <a:t>Эталон трассы  вводится для того, чтобы привести результаты разных трасс к единой шкале и сделать их сопоставимыми между собой. Эталон строится напрямую по данным трассы на шкале времени как устойчивая характеристика её элитного уровня.</a:t>
                </a:r>
                <a:endParaRPr lang="en-US" sz="1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F553009-48CB-C5ED-F8CE-0AAC22AAE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51" y="4011282"/>
                <a:ext cx="10757140" cy="954107"/>
              </a:xfrm>
              <a:prstGeom prst="rect">
                <a:avLst/>
              </a:prstGeom>
              <a:blipFill>
                <a:blip r:embed="rId4"/>
                <a:stretch>
                  <a:fillRect l="-170" t="-1274" b="-57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4649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F9AE714-81B5-35D8-B854-6FB049D54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71" y="0"/>
            <a:ext cx="119754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177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89099-36A3-A149-BA8B-83F6A3711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11"/>
            <a:ext cx="10515600" cy="780623"/>
          </a:xfrm>
        </p:spPr>
        <p:txBody>
          <a:bodyPr>
            <a:normAutofit/>
          </a:bodyPr>
          <a:lstStyle/>
          <a:p>
            <a:pPr algn="ctr"/>
            <a:r>
              <a:rPr lang="ru-RU" sz="2800" b="1" dirty="0"/>
              <a:t>Эталон трассы как устойчивая мера её сложности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4AC7D74-E4D0-0703-EC18-AC7D4FBF8C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8699" y="1823978"/>
            <a:ext cx="4590979" cy="39906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9E0EF3-75D2-678F-50A9-5C1EFA7D6CDC}"/>
              </a:ext>
            </a:extLst>
          </p:cNvPr>
          <p:cNvSpPr txBox="1"/>
          <p:nvPr/>
        </p:nvSpPr>
        <p:spPr>
          <a:xfrm>
            <a:off x="838200" y="917863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Эталон трассы строится по сильнейшим результатам как характеристика самой трассы.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724BD5-C5B3-3E49-3711-A6CCADB54729}"/>
              </a:ext>
            </a:extLst>
          </p:cNvPr>
          <p:cNvSpPr txBox="1"/>
          <p:nvPr/>
        </p:nvSpPr>
        <p:spPr>
          <a:xfrm>
            <a:off x="7701280" y="6004560"/>
            <a:ext cx="43891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Согласованность эталонов между мужчинами и женщинами: трассы, быстрые для одних, остаются быстрыми и для других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ED301B8-6A2C-0F7D-1291-2004914ACE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33" r="28834" b="91212"/>
          <a:stretch/>
        </p:blipFill>
        <p:spPr>
          <a:xfrm>
            <a:off x="182880" y="1412687"/>
            <a:ext cx="4165600" cy="29808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934E5EB-2B9E-D0E2-559A-CEAF59FC83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11" t="13850"/>
          <a:stretch/>
        </p:blipFill>
        <p:spPr>
          <a:xfrm>
            <a:off x="112379" y="1710770"/>
            <a:ext cx="2793278" cy="249931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BE2DFD3-3A61-3130-6D10-DE41DA9F31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67" r="66054"/>
          <a:stretch/>
        </p:blipFill>
        <p:spPr>
          <a:xfrm>
            <a:off x="3070277" y="1819374"/>
            <a:ext cx="4439201" cy="399987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3ACC9F4-5612-7E07-FEFE-AE7D9AF034A2}"/>
              </a:ext>
            </a:extLst>
          </p:cNvPr>
          <p:cNvSpPr txBox="1"/>
          <p:nvPr/>
        </p:nvSpPr>
        <p:spPr>
          <a:xfrm>
            <a:off x="3251818" y="6065629"/>
            <a:ext cx="42468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/>
              <a:t>Устойчивость эталона к выбору параметров расчёта (доля хвоста, обрезка): относительный уровень трасс сохраняется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226EF55-B377-C135-66A3-EA1E16D1BC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96" t="13850" r="33514"/>
          <a:stretch/>
        </p:blipFill>
        <p:spPr>
          <a:xfrm>
            <a:off x="101600" y="4358689"/>
            <a:ext cx="2793278" cy="249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765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A70F9DA0-F04C-F34E-BE9C-6B7E95A616DB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80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b="1" dirty="0"/>
              <a:t>Эталон трассы как отклонение от глобального эталона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1B0537B-E886-9E74-FE29-7632E0A207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221"/>
          <a:stretch/>
        </p:blipFill>
        <p:spPr>
          <a:xfrm>
            <a:off x="1" y="1290976"/>
            <a:ext cx="5913720" cy="475320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8A8BCFA-07BF-6D98-525F-E301B89B4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46" t="42691" b="40791"/>
          <a:stretch/>
        </p:blipFill>
        <p:spPr>
          <a:xfrm>
            <a:off x="4169664" y="4235877"/>
            <a:ext cx="1322138" cy="100185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1F3197-9990-721C-0DFA-CE8E7C0004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96" t="-1" r="25656" b="94151"/>
          <a:stretch/>
        </p:blipFill>
        <p:spPr>
          <a:xfrm>
            <a:off x="7372555" y="1290976"/>
            <a:ext cx="3081528" cy="29058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037542D-5379-86D9-5850-CD809158E2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6"/>
          <a:stretch/>
        </p:blipFill>
        <p:spPr>
          <a:xfrm>
            <a:off x="5713914" y="1629226"/>
            <a:ext cx="6398811" cy="428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9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F12885-86D4-5C1F-1858-C641C90E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ru-RU" dirty="0"/>
              <a:t>Смещение выборки: ‘сильнейшие’ не представляют состав забега»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1F8586-31C5-736F-F286-5AF733E6E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3639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</TotalTime>
  <Words>370</Words>
  <Application>Microsoft Office PowerPoint</Application>
  <PresentationFormat>Широкоэкранный</PresentationFormat>
  <Paragraphs>47</Paragraphs>
  <Slides>7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Тема Office</vt:lpstr>
      <vt:lpstr>Эталоны и поправки</vt:lpstr>
      <vt:lpstr>Задача и декомпозиция</vt:lpstr>
      <vt:lpstr>Модель</vt:lpstr>
      <vt:lpstr>Презентация PowerPoint</vt:lpstr>
      <vt:lpstr>Эталон трассы как устойчивая мера её сложности</vt:lpstr>
      <vt:lpstr>Презентация PowerPoint</vt:lpstr>
      <vt:lpstr> Смещение выборки: ‘сильнейшие’ не представляют состав забега»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Мурачёв</dc:creator>
  <cp:lastModifiedBy>Андрей Мурачёв</cp:lastModifiedBy>
  <cp:revision>3</cp:revision>
  <dcterms:created xsi:type="dcterms:W3CDTF">2025-12-25T13:48:28Z</dcterms:created>
  <dcterms:modified xsi:type="dcterms:W3CDTF">2025-12-26T10:47:24Z</dcterms:modified>
</cp:coreProperties>
</file>